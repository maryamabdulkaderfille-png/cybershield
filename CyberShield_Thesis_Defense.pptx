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2942"/>
                </a:solidFill>
                <a:latin typeface="Arial"/>
              </a:defRPr>
            </a:pPr>
            <a:r>
              <a:t>EAST AFRICA UNIVERSITY</a:t>
            </a:r>
          </a:p>
          <a:p>
            <a:pPr algn="ctr">
              <a:defRPr sz="1200">
                <a:solidFill>
                  <a:srgbClr val="64748B"/>
                </a:solidFill>
                <a:latin typeface="Arial"/>
              </a:defRPr>
            </a:pPr>
            <a:r>
              <a:t>Faculty of Technology &amp; Engineering • Department of Computer Science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828800"/>
            <a:ext cx="3962095" cy="36576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F2942"/>
                </a:solidFill>
                <a:latin typeface="Arial"/>
              </a:defRPr>
            </a:pPr>
            <a:r>
              <a:t>Design and Implementation of a</a:t>
            </a:r>
            <a:br/>
            <a:r>
              <a:t>Web-Based Phishing Detection System</a:t>
            </a:r>
          </a:p>
          <a:p>
            <a:pPr algn="ctr">
              <a:defRPr sz="1500" b="1">
                <a:solidFill>
                  <a:srgbClr val="C27803"/>
                </a:solidFill>
                <a:latin typeface="Arial"/>
              </a:defRPr>
            </a:pPr>
            <a:r>
              <a:t>PROJECT: CYBERSHIELD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4297680"/>
            <a:ext cx="6339535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Bachelor of Computer Science — Final-Year Thesis Defense</a:t>
            </a:r>
          </a:p>
          <a:p>
            <a:pPr algn="ctr">
              <a:defRPr sz="1300" b="1">
                <a:solidFill>
                  <a:srgbClr val="1E293B"/>
                </a:solidFill>
                <a:latin typeface="Arial"/>
              </a:defRPr>
            </a:pPr>
            <a:r>
              <a:t>Candidate: Maryam Abdulkader Hassan Filla</a:t>
            </a:r>
          </a:p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Student ID: EAUGRW0004981   •   Academic Year: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7803"/>
                </a:solidFill>
                <a:latin typeface="Arial"/>
              </a:defRPr>
            </a:pPr>
            <a:r>
              <a:t>TABLE OF CONTENTS</a:t>
            </a:r>
          </a:p>
          <a:p>
            <a:pPr>
              <a:defRPr sz="2400" b="1">
                <a:solidFill>
                  <a:srgbClr val="0F2942"/>
                </a:solidFill>
                <a:latin typeface="Arial"/>
              </a:defRPr>
            </a:pPr>
            <a:r>
              <a:t>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27803"/>
          </a:solidFill>
          <a:ln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CyberShield: Web-Based Phishing Detection System | East Africa University — Thesis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594360" cy="594360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90195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Introduction / Background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697480"/>
            <a:ext cx="594360" cy="594360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77063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566160"/>
            <a:ext cx="594360" cy="594360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63931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Objectives of the Study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434840"/>
            <a:ext cx="594360" cy="594360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50799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Literature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303520"/>
            <a:ext cx="594360" cy="594360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537667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Methodology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828800"/>
            <a:ext cx="594360" cy="594360"/>
          </a:xfrm>
          <a:prstGeom prst="round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90195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System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697480"/>
            <a:ext cx="594360" cy="594360"/>
          </a:xfrm>
          <a:prstGeom prst="round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77063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Implementation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566160"/>
            <a:ext cx="594360" cy="594360"/>
          </a:xfrm>
          <a:prstGeom prst="round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63931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Testing &amp;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434840"/>
            <a:ext cx="594360" cy="594360"/>
          </a:xfrm>
          <a:prstGeom prst="round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450799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Discussion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5303520"/>
            <a:ext cx="594360" cy="594360"/>
          </a:xfrm>
          <a:prstGeom prst="round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537667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Conclusion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7803"/>
                </a:solidFill>
                <a:latin typeface="Arial"/>
              </a:defRPr>
            </a:pPr>
            <a:r>
              <a:t>OVERVIEW</a:t>
            </a:r>
          </a:p>
          <a:p>
            <a:pPr>
              <a:defRPr sz="2400" b="1">
                <a:solidFill>
                  <a:srgbClr val="0F2942"/>
                </a:solidFill>
                <a:latin typeface="Arial"/>
              </a:defRPr>
            </a:pPr>
            <a:r>
              <a:t>1.  Introduction &amp; 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27803"/>
          </a:solidFill>
          <a:ln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CyberShield: Web-Based Phishing Detection System | East Africa University — Thesis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0F2942"/>
                </a:solidFill>
                <a:latin typeface="Arial"/>
              </a:defRPr>
            </a:pPr>
            <a:r>
              <a:t>The Phishing Landscape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Phishing remains the primary vector for cyber attacks worldwide. Over 94% of organizational data breaches originate through deceptive communications, credential harvesting links, and spoofed domains targeting human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290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0F2942"/>
                </a:solidFill>
                <a:latin typeface="Arial"/>
              </a:defRPr>
            </a:pPr>
            <a:r>
              <a:t>Multi-Channel Attack Evolution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Modern phishing has advanced beyond basic email attachments. Attackers heavily utilize deceptive URLs, spear-phishing emails, and increasingly QR codes (Quishing) to bypass traditional gateway security filters.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828800"/>
            <a:ext cx="34290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0F2942"/>
                </a:solidFill>
                <a:latin typeface="Arial"/>
              </a:defRPr>
            </a:pPr>
            <a:r>
              <a:t>Research Motivation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There is a critical need for an accessible, transparent, and proactive security platform that safeguards everyday users and educational institutions through real-time heuristic inspection rather than delayed blacklists.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7803"/>
                </a:solidFill>
                <a:latin typeface="Arial"/>
              </a:defRPr>
            </a:pPr>
            <a:r>
              <a:t>THE RESEARCH GAP</a:t>
            </a:r>
          </a:p>
          <a:p>
            <a:pPr>
              <a:defRPr sz="2400" b="1">
                <a:solidFill>
                  <a:srgbClr val="0F2942"/>
                </a:solidFill>
                <a:latin typeface="Arial"/>
              </a:defRPr>
            </a:pPr>
            <a:r>
              <a:t>2. 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27803"/>
          </a:solidFill>
          <a:ln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CyberShield: Web-Based Phishing Detection System | East Africa University — Thesis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8404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1300" b="1">
                <a:solidFill>
                  <a:srgbClr val="C27803"/>
                </a:solidFill>
                <a:latin typeface="Arial"/>
              </a:defRPr>
            </a:pPr>
            <a:r>
              <a:t>Global Threat Scale</a:t>
            </a:r>
          </a:p>
          <a:p>
            <a:pPr>
              <a:defRPr sz="3800" b="1">
                <a:solidFill>
                  <a:srgbClr val="0F2942"/>
                </a:solidFill>
                <a:latin typeface="Arial"/>
              </a:defRPr>
            </a:pPr>
            <a:r>
              <a:t>971,181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Confirmed phishing attacks reported by the Anti-Phishing Working Group (APWG) in a single quarter.</a:t>
            </a:r>
          </a:p>
          <a:p>
            <a:br/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Core Problem: While detection technology exists, accessible and transparent real-time protection does not exist for ordinary internet users.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828800"/>
            <a:ext cx="6583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1500" b="1">
                <a:solidFill>
                  <a:srgbClr val="0F2942"/>
                </a:solidFill>
                <a:latin typeface="Arial"/>
              </a:defRPr>
            </a:pPr>
            <a:r>
              <a:t>Current Limitations in Existing Solutions:</a:t>
            </a:r>
          </a:p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• Blacklist-Only Checkers (Reactive): 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Fast and free, but blind to new zero-hour phishing sites during the critical hours or days before manual crowdsourced reporting.</a:t>
            </a:r>
          </a:p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• Enterprise Security Software (Inaccessible): 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Genuinely proactive, but prohibitively expensive, complex, and restricted to institutional SOC environments.</a:t>
            </a:r>
          </a:p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• The Resulting Gap: 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  Ordinary students and small businesses are left unprotected with no explainable, automated, and free multi-vector defense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7803"/>
                </a:solidFill>
                <a:latin typeface="Arial"/>
              </a:defRPr>
            </a:pPr>
            <a:r>
              <a:t>GOALS &amp; TARGETS</a:t>
            </a:r>
          </a:p>
          <a:p>
            <a:pPr>
              <a:defRPr sz="2400" b="1">
                <a:solidFill>
                  <a:srgbClr val="0F2942"/>
                </a:solidFill>
                <a:latin typeface="Arial"/>
              </a:defRPr>
            </a:pPr>
            <a:r>
              <a:t>3.  Objectives of the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27803"/>
          </a:solidFill>
          <a:ln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CyberShield: Web-Based Phishing Detection System | East Africa University — Thesis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C27803"/>
                </a:solidFill>
                <a:latin typeface="Arial"/>
              </a:defRPr>
            </a:pPr>
            <a:r>
              <a:t>GENERAL OBJECTIVE</a:t>
            </a:r>
          </a:p>
          <a:p>
            <a:pPr>
              <a:defRPr sz="1300" b="1">
                <a:solidFill>
                  <a:srgbClr val="0F2942"/>
                </a:solidFill>
                <a:latin typeface="Arial"/>
              </a:defRPr>
            </a:pPr>
            <a:r>
              <a:t>To design and implement a web-based phishing detection system enabling real-time URL verification, email analysis, QR code inspection, and automated browser protection.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Obj 1: Literature Review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Review existing blacklist, heuristic, and machine learning phishing detection techniques.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92608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Obj 2: URL Analysis Engine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Build a modular heuristic scoring engine evaluating URL syntax, entropy, and domain 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92608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Obj 3: Secure Authentication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Implement a robust authentication system with JWT sessions, Bcrypt hashing, and role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Obj 4: Detection Accuracy Evaluation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Examine detection behavior, accuracy boundaries, and test suite reliability.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57200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Obj 5: Platform Security Measures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Incorporate security by design: Rate limiting, input validation, CSRF, and SSRF guards.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457200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Obj 6: Browser Extension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Develop a Manifest V3 browser extension providing passive zero-click protection.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7803"/>
                </a:solidFill>
                <a:latin typeface="Arial"/>
              </a:defRPr>
            </a:pPr>
            <a:r>
              <a:t>THEORETICAL FRAMEWORK</a:t>
            </a:r>
          </a:p>
          <a:p>
            <a:pPr>
              <a:defRPr sz="2400" b="1">
                <a:solidFill>
                  <a:srgbClr val="0F2942"/>
                </a:solidFill>
                <a:latin typeface="Arial"/>
              </a:defRPr>
            </a:pPr>
            <a:r>
              <a:t>4. 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27803"/>
          </a:solidFill>
          <a:ln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CyberShield: Web-Based Phishing Detection System | East Africa University — Thesis Defense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834640"/>
                <a:gridCol w="2834640"/>
                <a:gridCol w="2956255"/>
              </a:tblGrid>
              <a:tr h="10287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Advantages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Limitations / Vulnerabilities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CyberShield Approach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Blacklist-Based</a:t>
                      </a:r>
                      <a:br/>
                      <a:r>
                        <a:t>(e.g., Safe Browsing)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• Low false positives</a:t>
                      </a:r>
                      <a:br/>
                      <a:r>
                        <a:t>• Instant lookup for known sites</a:t>
                      </a:r>
                      <a:br/>
                      <a:r>
                        <a:t>• Minimal server compute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• Zero-hour window blindness</a:t>
                      </a:r>
                      <a:br/>
                      <a:r>
                        <a:t>• Ineffective against short-lived domains</a:t>
                      </a:r>
                      <a:br/>
                      <a:r>
                        <a:t>• Delayed victim reporting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Incorporated as Phase 2 internal blacklist for known bad actors.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Machine Learning</a:t>
                      </a:r>
                      <a:br/>
                      <a:r>
                        <a:t>Classifiers (ML/AI)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• Generalizes across patterns</a:t>
                      </a:r>
                      <a:br/>
                      <a:r>
                        <a:t>• Detects complex combinations</a:t>
                      </a:r>
                      <a:br/>
                      <a:r>
                        <a:t>• Adapts with retraining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• Black-box decisions (no explanation)</a:t>
                      </a:r>
                      <a:br/>
                      <a:r>
                        <a:t>• High computational inference overhead</a:t>
                      </a:r>
                      <a:br/>
                      <a:r>
                        <a:t>• Model drift &amp; dataset 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Identified for future hybrid integration; avoided for initial sub-second latency.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Rule-Based Heuristic</a:t>
                      </a:r>
                      <a:br/>
                      <a:r>
                        <a:t>Analysis (CyberShield)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• Sub-second response time</a:t>
                      </a:r>
                      <a:br/>
                      <a:r>
                        <a:t>• Full explainability (Named rules)</a:t>
                      </a:r>
                      <a:br/>
                      <a:r>
                        <a:t>• Transparent penalties</a:t>
                      </a:r>
                      <a:br/>
                      <a:r>
                        <a:t>• Zero third-party dependency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• Requires careful weight calibration</a:t>
                      </a:r>
                      <a:br/>
                      <a:r>
                        <a:t>• Dependent on rule coverage</a:t>
                      </a:r>
                      <a:br/>
                      <a:r>
                        <a:t>• Potential false positives on rare TLDs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Primary detection core: 29 rules across URL, Email headers, and QR payloads.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7803"/>
                </a:solidFill>
                <a:latin typeface="Arial"/>
              </a:defRPr>
            </a:pPr>
            <a:r>
              <a:t>DESIGN SCIENCE RESEARCH</a:t>
            </a:r>
          </a:p>
          <a:p>
            <a:pPr>
              <a:defRPr sz="2400" b="1">
                <a:solidFill>
                  <a:srgbClr val="0F2942"/>
                </a:solidFill>
                <a:latin typeface="Arial"/>
              </a:defRPr>
            </a:pPr>
            <a:r>
              <a:t>5.  Research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27803"/>
          </a:solidFill>
          <a:ln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CyberShield: Web-Based Phishing Detection System | East Africa University — Thesis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F2942"/>
                </a:solidFill>
                <a:latin typeface="Arial"/>
              </a:defRPr>
            </a:pPr>
            <a:r>
              <a:t>Research Design:</a:t>
            </a:r>
            <a:br/>
            <a:r>
              <a:t>Design Science Research</a:t>
            </a:r>
          </a:p>
          <a:p>
            <a:br/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Hevner et al. (2004) Framework</a:t>
            </a:r>
            <a:br/>
            <a:br/>
            <a:r>
              <a:t>Focuses on building and evaluating a functional software artefact to solve an identified business &amp; security problem, rather than conducting sample/population opinion surveys.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828800"/>
            <a:ext cx="256032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F2942"/>
                </a:solidFill>
                <a:latin typeface="Arial"/>
              </a:defRPr>
            </a:pPr>
            <a:r>
              <a:t>Development Method:</a:t>
            </a:r>
            <a:br/>
            <a:r>
              <a:t>Agile &amp; Incremental</a:t>
            </a:r>
          </a:p>
          <a:p>
            <a:br/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Beck et al. (2001) Agile Model</a:t>
            </a:r>
            <a:br/>
            <a:br/>
            <a:r>
              <a:t>The platform was architected across modular increments (Phases 1 through 8), enabling each scanner engine, database model, and API endpoint to be built, tested, and refined independently.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828800"/>
            <a:ext cx="256032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F2942"/>
                </a:solidFill>
                <a:latin typeface="Arial"/>
              </a:defRPr>
            </a:pPr>
            <a:r>
              <a:t>Requirements &amp;</a:t>
            </a:r>
            <a:br/>
            <a:r>
              <a:t>Data Instrument</a:t>
            </a:r>
          </a:p>
          <a:p>
            <a:br/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Specification &amp; Gap Analysis</a:t>
            </a:r>
            <a:br/>
            <a:br/>
            <a:r>
              <a:t>System functional and non-functional requirements were established from empirical literature gap analysis and APWG threat telemetry specifications.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828800"/>
            <a:ext cx="256032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F2942"/>
                </a:solidFill>
                <a:latin typeface="Arial"/>
              </a:defRPr>
            </a:pPr>
            <a:r>
              <a:t>Evaluation &amp;</a:t>
            </a:r>
            <a:br/>
            <a:r>
              <a:t>Verification Strategy</a:t>
            </a:r>
          </a:p>
          <a:p>
            <a:br/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Deterministic Test Harness</a:t>
            </a:r>
            <a:br/>
            <a:br/>
            <a:r>
              <a:t>Evaluation conducted through a 562-test automated test suite (Pytest + Vitest) plus real-world accumulated platform usage logs across multi-user environments.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7803"/>
                </a:solidFill>
                <a:latin typeface="Arial"/>
              </a:defRPr>
            </a:pPr>
            <a:r>
              <a:t>ARCHITECTURE &amp; LAYERS</a:t>
            </a:r>
          </a:p>
          <a:p>
            <a:pPr>
              <a:defRPr sz="2400" b="1">
                <a:solidFill>
                  <a:srgbClr val="0F2942"/>
                </a:solidFill>
                <a:latin typeface="Arial"/>
              </a:defRPr>
            </a:pPr>
            <a:r>
              <a:t>6.  System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27803"/>
          </a:solidFill>
          <a:ln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CyberShield: Web-Based Phishing Detection System | East Africa University — Thesis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0F2942"/>
                </a:solidFill>
                <a:latin typeface="Arial"/>
              </a:defRPr>
            </a:pPr>
            <a:r>
              <a:t>1. Client Layer (Presentation)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React 18 Single Page Application (Vite + TypeScript) + Chromium Manifest V3 Browser Extension. Provides real-time user interfaces, blocking overlays, and scan center dashboards.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52928"/>
            <a:ext cx="10728655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0F2942"/>
                </a:solidFill>
                <a:latin typeface="Arial"/>
              </a:defRPr>
            </a:pPr>
            <a:r>
              <a:t>2. Application Layer (Logic &amp; Auth)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Python Flask REST API (/api/v1). Manages routing, rate limiting (Flask-Limiter), JWT access/refresh session lifecycles, and Role-Based Access Control (RBAC).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68496"/>
            <a:ext cx="10728655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0F2942"/>
                </a:solidFill>
                <a:latin typeface="Arial"/>
              </a:defRPr>
            </a:pPr>
            <a:r>
              <a:t>3. Detection Engine Layer (Core Logic)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Modular heuristic inspection engines: URL Scanner (11 rules), Email Analyzer (10 rules for SPF/DKIM/MIME), and QR Code Decoder (8 payload handlers). Shared core design avoids code duplication.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84064"/>
            <a:ext cx="10728655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0F2942"/>
                </a:solidFill>
                <a:latin typeface="Arial"/>
              </a:defRPr>
            </a:pPr>
            <a:r>
              <a:t>4. Data Layer (Persistence)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PostgreSQL 16 relational database (14 production tables) ensuring ACID compliance and scan indexing, with SQLite in-memory database utilized for deterministic automated testing.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7803"/>
                </a:solidFill>
                <a:latin typeface="Arial"/>
              </a:defRPr>
            </a:pPr>
            <a:r>
              <a:t>KEY FEATURES &amp; STACK</a:t>
            </a:r>
          </a:p>
          <a:p>
            <a:pPr>
              <a:defRPr sz="2400" b="1">
                <a:solidFill>
                  <a:srgbClr val="0F2942"/>
                </a:solidFill>
                <a:latin typeface="Arial"/>
              </a:defRPr>
            </a:pPr>
            <a:r>
              <a:t>7.  System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27803"/>
          </a:solidFill>
          <a:ln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CyberShield: Web-Based Phishing Detection System | East Africa University — Thesis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914400"/>
          </a:xfrm>
          <a:prstGeom prst="roundRect">
            <a:avLst/>
          </a:prstGeom>
          <a:solidFill>
            <a:srgbClr val="0F29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Core Scoring Formula:  Trust Score = 100 + Σ (rule impacts)  [Clamped: 0 – 100]</a:t>
            </a:r>
          </a:p>
          <a:p>
            <a:pPr algn="ctr">
              <a:defRPr sz="1100">
                <a:solidFill>
                  <a:srgbClr val="C27803"/>
                </a:solidFill>
                <a:latin typeface="Arial"/>
              </a:defRPr>
            </a:pPr>
            <a:r>
              <a:t>Risk Thresholds: Safe (90–100)  |  Low Risk (70–89)  |  Suspicious (40–69)  |  Dangerous (0–39)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42900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1E3A8A"/>
                </a:solidFill>
                <a:latin typeface="Arial"/>
              </a:defRPr>
            </a:pPr>
            <a:r>
              <a:t>Three Detection Channels</a:t>
            </a:r>
          </a:p>
          <a:p>
            <a:br/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• URL Scanner (11 Rules): IP host detection, brand typosquatting, TLS check, domain age, suspicious TLDs.</a:t>
            </a:r>
            <a:br/>
            <a:r>
              <a:t>• Email Scanner (10 Rules): Header auth (SPF/DKIM/DMARC), sender spoofing, urgency keywords, executable attachments.</a:t>
            </a:r>
            <a:br/>
            <a:r>
              <a:t>• QR Scanner (8 Handlers): Payload matrix decoding (URL, WiFi, Crypto, Phone) piped into URL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743200"/>
            <a:ext cx="342900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1E3A8A"/>
                </a:solidFill>
                <a:latin typeface="Arial"/>
              </a:defRPr>
            </a:pPr>
            <a:r>
              <a:t>Browser Extension (MV3)</a:t>
            </a:r>
          </a:p>
          <a:p>
            <a:br/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• Zero-Effort Automation: Automatically intercepts active tab navigation.</a:t>
            </a:r>
            <a:br/>
            <a:r>
              <a:t>• Sub-Second Response: 267ms average check prevents user credential entry.</a:t>
            </a:r>
            <a:br/>
            <a:r>
              <a:t>• Full-Page Warning Overlay: Blurs and intercepts dangerous sites.</a:t>
            </a:r>
            <a:br/>
            <a:r>
              <a:t>• Privacy Mode: In-memory evaluation without saving browsing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743200"/>
            <a:ext cx="342900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1E3A8A"/>
                </a:solidFill>
                <a:latin typeface="Arial"/>
              </a:defRPr>
            </a:pPr>
            <a:r>
              <a:t>Enterprise Administration</a:t>
            </a:r>
          </a:p>
          <a:p>
            <a:br/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• Role-Based Access Control (RBAC): User vs Admin permission matrices.</a:t>
            </a:r>
            <a:br/>
            <a:r>
              <a:t>• Dynamic Rule Toggling: Enable or disable heuristic rules in real-time.</a:t>
            </a:r>
            <a:br/>
            <a:r>
              <a:t>• Audit Logging: Non-repudiation logging of security events &amp; IP addresses.</a:t>
            </a:r>
            <a:br/>
            <a:r>
              <a:t>• Security Headers: Strict CSRF, Rate Limiting, SSRF guards, Bcrypt.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7803"/>
                </a:solidFill>
                <a:latin typeface="Arial"/>
              </a:defRPr>
            </a:pPr>
            <a:r>
              <a:t>VERIFICATION &amp; TELEMETRY</a:t>
            </a:r>
          </a:p>
          <a:p>
            <a:pPr>
              <a:defRPr sz="2400" b="1">
                <a:solidFill>
                  <a:srgbClr val="0F2942"/>
                </a:solidFill>
                <a:latin typeface="Arial"/>
              </a:defRPr>
            </a:pPr>
            <a:r>
              <a:t>8.  Testing &amp;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27803"/>
          </a:solidFill>
          <a:ln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CyberShield: Web-Based Phishing Detection System | East Africa University — Thesis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0F2942"/>
                </a:solidFill>
                <a:latin typeface="Arial"/>
              </a:defRPr>
            </a:pPr>
            <a:r>
              <a:t>Automated Test Suite Verification</a:t>
            </a:r>
          </a:p>
          <a:p>
            <a:pPr>
              <a:defRPr sz="1800" b="1">
                <a:solidFill>
                  <a:srgbClr val="166534"/>
                </a:solidFill>
                <a:latin typeface="Arial"/>
              </a:defRPr>
            </a:pPr>
            <a:r>
              <a:t>562 of 562 Tests Passed (100%)</a:t>
            </a:r>
          </a:p>
          <a:p>
            <a:br/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Backend Suite (Pytest): 473 tests exercising API routes, auth, rate limiting, and heuristic scoring.</a:t>
            </a:r>
            <a:br/>
            <a:r>
              <a:t>• Extension Suite (Vitest): 89 tests verifying client-side lifecycle and message passing.</a:t>
            </a:r>
            <a:br/>
            <a:br/>
            <a:r>
              <a:t>Worked Detection Example:</a:t>
            </a:r>
            <a:br/>
            <a:r>
              <a:t>Target: http://45.33.32.156/paypal-verify-account</a:t>
            </a:r>
            <a:br/>
            <a:r>
              <a:t>Calculated Score: 31 / 100 (DANGEROUS)</a:t>
            </a:r>
            <a:br/>
            <a:r>
              <a:t>Triggered Rules: Raw IP host (-25), Brand impersonation (-30), Plain HTTP (-15).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50815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0F2942"/>
                </a:solidFill>
                <a:latin typeface="Arial"/>
              </a:defRPr>
            </a:pPr>
            <a:r>
              <a:t>Live Platform Usage Telemetry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472 Real Accumulated Scans Recorded</a:t>
            </a:r>
          </a:p>
          <a:p>
            <a:br/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Automatic Scanning: 448 / 472 (95%) originated passively from the browser extension.</a:t>
            </a:r>
            <a:br/>
            <a:r>
              <a:t>• Performance Latency: 267.79 ms average API response time.</a:t>
            </a:r>
            <a:br/>
            <a:r>
              <a:t>• Mean Trust Score: 90.8 across live evaluation.</a:t>
            </a:r>
            <a:br/>
            <a:r>
              <a:t>• Risk Classification: 261 Safe, 194 Low Risk, 11 Suspicious, 6 Dangerous blocked.</a:t>
            </a:r>
            <a:br/>
            <a:r>
              <a:t>• Platform Deployment: 31 registered users, 2 administrators, 16 blocked attacks.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7803"/>
                </a:solidFill>
                <a:latin typeface="Arial"/>
              </a:defRPr>
            </a:pPr>
            <a:r>
              <a:t>CRITICAL ANALYSIS</a:t>
            </a:r>
          </a:p>
          <a:p>
            <a:pPr>
              <a:defRPr sz="2400" b="1">
                <a:solidFill>
                  <a:srgbClr val="0F2942"/>
                </a:solidFill>
                <a:latin typeface="Arial"/>
              </a:defRPr>
            </a:pPr>
            <a:r>
              <a:t>9. 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27803"/>
          </a:solidFill>
          <a:ln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CyberShield: Web-Based Phishing Detection System | East Africa University — Thesis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578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F2942"/>
                </a:solidFill>
                <a:latin typeface="Arial"/>
              </a:defRPr>
            </a:pPr>
            <a:r>
              <a:t>Objectives Evaluation (5 of 6 Met)</a:t>
            </a:r>
          </a:p>
          <a:p>
            <a:br/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Five of the six specific research objectives were fully achieved. Objective 4 (accuracy benchmarking against a static labelled dataset) was not met because no fixed ground-truth dataset was compiled; reliability was measured via 562 automated tests instead. Reliability and accuracy represent distinct properties.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2578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F2942"/>
                </a:solidFill>
                <a:latin typeface="Arial"/>
              </a:defRPr>
            </a:pPr>
            <a:r>
              <a:t>Empirical Validation of Automatic Protection</a:t>
            </a:r>
          </a:p>
          <a:p>
            <a:br/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The finding that 95% of all scans originated through the browser extension rather than manual web dashboard pasting validates the fundamental research hypothesis: effective end-user cybersecurity must be automated and zero-effort.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F2942"/>
                </a:solidFill>
                <a:latin typeface="Arial"/>
              </a:defRPr>
            </a:pPr>
            <a:r>
              <a:t>Explainability as an Essential Security Requirement</a:t>
            </a:r>
          </a:p>
          <a:p>
            <a:br/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By implementing deterministic heuristic penalties, every verdict provides clear, transparent reasons (e.g. 'IP host detected', 'Mismatched sender') rather than opaque machine learning outputs, empowering user awareness and security education.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578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F2942"/>
                </a:solidFill>
                <a:latin typeface="Arial"/>
              </a:defRPr>
            </a:pPr>
            <a:r>
              <a:t>System Limitations</a:t>
            </a:r>
          </a:p>
          <a:p>
            <a:br/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Current heuristics inspect static indicators and headers; they do not perform dynamic JavaScript execution in an isolated virtual sandbox, and password-protected archive attachments cannot be decrypted without user keys.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7803"/>
                </a:solidFill>
                <a:latin typeface="Arial"/>
              </a:defRPr>
            </a:pPr>
            <a:r>
              <a:t>SUMMARY &amp; FUTURE WORK</a:t>
            </a:r>
          </a:p>
          <a:p>
            <a:pPr>
              <a:defRPr sz="2400" b="1">
                <a:solidFill>
                  <a:srgbClr val="0F2942"/>
                </a:solidFill>
                <a:latin typeface="Arial"/>
              </a:defRPr>
            </a:pPr>
            <a:r>
              <a:t>10.  Conclusion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C27803"/>
          </a:solidFill>
          <a:ln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CyberShield: Web-Based Phishing Detection System | East Africa University — Thesis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>
                <a:solidFill>
                  <a:srgbClr val="0F2942"/>
                </a:solidFill>
                <a:latin typeface="Arial"/>
              </a:defRPr>
            </a:pPr>
            <a:r>
              <a:t>RESEARCH CONCLUSION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The CyberShield platform successfully demonstrates that transparent, explainable, and multi-channel phishing detection is achievable without costly enterprise licensing. The system runs reliably, passes all 562 automated tests, and provides accessible protection across web, email, QR, and browser extension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429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C27803"/>
                </a:solidFill>
                <a:latin typeface="Arial"/>
              </a:defRPr>
            </a:pPr>
            <a:r>
              <a:t>1. Benchmark Accuracy Evaluation</a:t>
            </a:r>
          </a:p>
          <a:p>
            <a:br/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Execute a rigorous accuracy evaluation using balanced feeds from PhishTank and verified legitimate domains to compute precision, recall, and false positive rates.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657600"/>
            <a:ext cx="3429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C27803"/>
                </a:solidFill>
                <a:latin typeface="Arial"/>
              </a:defRPr>
            </a:pPr>
            <a:r>
              <a:t>2. Hybrid NLP / Machine Learning</a:t>
            </a:r>
          </a:p>
          <a:p>
            <a:br/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Integrate a lightweight Natural Language Processing (NLP) classifier to detect subtle context-driven spear-phishing messages alongside heuristic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3657600"/>
            <a:ext cx="3429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C27803"/>
                </a:solidFill>
                <a:latin typeface="Arial"/>
              </a:defRPr>
            </a:pPr>
            <a:r>
              <a:t>3. Dynamic Sandboxing &amp; Mobile Apps</a:t>
            </a:r>
          </a:p>
          <a:p>
            <a:br/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Extend detection through headless browser execution for DOM inspection and publish dedicated mobile browser extensions and apps.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1645920"/>
            <a:ext cx="7619695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0F2942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defRPr sz="1800" b="1">
                <a:solidFill>
                  <a:srgbClr val="C27803"/>
                </a:solidFill>
                <a:latin typeface="Arial"/>
              </a:defRPr>
            </a:pPr>
            <a:r>
              <a:t>Questions &amp; Answers (Q&amp;A)</a:t>
            </a:r>
          </a:p>
          <a:p>
            <a:br/>
            <a:pPr algn="ctr">
              <a:defRPr sz="1200">
                <a:solidFill>
                  <a:srgbClr val="64748B"/>
                </a:solidFill>
                <a:latin typeface="Arial"/>
              </a:defRPr>
            </a:pPr>
            <a:r>
              <a:t>CyberShield — Design and Implementation of a Web-Based Phishing Detection System</a:t>
            </a:r>
            <a:br/>
            <a:r>
              <a:t>Candidate: Maryam Abdulkader Hassan Filla • ID: EAUGRW0004981</a:t>
            </a:r>
            <a:br/>
            <a:r>
              <a:t>East Africa University — Faculty of Technology &amp;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