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64008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28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A0E1A"/>
                </a:solidFill>
                <a:latin typeface="Arial"/>
              </a:defRPr>
            </a:pPr>
            <a:r>
              <a:t>EAST AFRICA UNIVERSITY</a:t>
            </a:r>
          </a:p>
          <a:p>
            <a:pPr algn="ctr">
              <a:defRPr sz="1100" b="1">
                <a:solidFill>
                  <a:srgbClr val="3B82F6"/>
                </a:solidFill>
                <a:latin typeface="Arial"/>
              </a:defRPr>
            </a:pPr>
            <a:r>
              <a:t>FACULTY OF TECHNOLOGY &amp; ENGINEERING • DEPARTMENT OF COMPUTER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A0E1A"/>
                </a:solidFill>
                <a:latin typeface="Arial"/>
              </a:defRPr>
            </a:pPr>
            <a:r>
              <a:t>Design and Implementation of a</a:t>
            </a:r>
            <a:br/>
            <a:r>
              <a:t>Web-Based Phishing Detection System</a:t>
            </a:r>
          </a:p>
          <a:p>
            <a:pPr algn="ctr">
              <a:defRPr sz="1500" b="1">
                <a:solidFill>
                  <a:srgbClr val="3B82F6"/>
                </a:solidFill>
                <a:latin typeface="Arial"/>
              </a:defRPr>
            </a:pPr>
            <a:r>
              <a:t>CyberShield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4480560"/>
            <a:ext cx="6339535" cy="1554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Bachelor of Computer Science — Final-Year Thesis Defense</a:t>
            </a:r>
          </a:p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Candidate: Maryam Abdulkader Hassan Filla</a:t>
            </a:r>
          </a:p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Student ID: EAUGRW0004981   •   Academic Year: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2004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E1A"/>
                </a:solidFill>
                <a:latin typeface="Arial"/>
              </a:defRPr>
            </a:pPr>
            <a:r>
              <a:t>Presentation Outline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East Africa University • Department of Computer Science • Final-Year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latin typeface="Arial"/>
              </a:defRPr>
            </a:pPr>
            <a:r>
              <a:t>CyberShield: Web-Based Phishing Detection System | Candidate: Maryam Abdulkader Hassan Filla (EAUGRW0004981)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737360"/>
            <a:ext cx="594360" cy="594360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810512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Introduction / Background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606039"/>
            <a:ext cx="594360" cy="594360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679191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474720"/>
            <a:ext cx="594360" cy="594360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547872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Objectives of the Study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4343400"/>
            <a:ext cx="594360" cy="594360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416552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Literature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5212079"/>
            <a:ext cx="594360" cy="594360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5285231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1737360"/>
            <a:ext cx="59436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810512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System Design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2606039"/>
            <a:ext cx="59436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679191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3474720"/>
            <a:ext cx="59436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547872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Testing &amp; 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4343400"/>
            <a:ext cx="59436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416552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5212079"/>
            <a:ext cx="59436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5285231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Conclusion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2004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E1A"/>
                </a:solidFill>
                <a:latin typeface="Arial"/>
              </a:defRPr>
            </a:pPr>
            <a:r>
              <a:t>1.  Introduction / Background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East Africa University • Department of Computer Science • Final-Year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latin typeface="Arial"/>
              </a:defRPr>
            </a:pPr>
            <a:r>
              <a:t>CyberShield: Web-Based Phishing Detection System | Candidate: Maryam Abdulkader Hassan Filla (EAUGRW0004981)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2900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A0E1A"/>
                </a:solidFill>
                <a:latin typeface="Arial"/>
              </a:defRPr>
            </a:pPr>
            <a:r>
              <a:t>The Phishing Landscape</a:t>
            </a:r>
          </a:p>
          <a:p>
            <a:br/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Phishing remains the #1 initial attack vector worldwide. Over 94% of organizational data breaches originate through deceptive communications, credential harvesting links, and social engineering.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2900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A0E1A"/>
                </a:solidFill>
                <a:latin typeface="Arial"/>
              </a:defRPr>
            </a:pPr>
            <a:r>
              <a:t>Multi-Vector Threat Evolution</a:t>
            </a:r>
          </a:p>
          <a:p>
            <a:br/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Modern attacks have expanded beyond basic email spam to deceptive URLs and QR code phishing (Quishing) designed to bypass traditional perimeter security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2900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A0E1A"/>
                </a:solidFill>
                <a:latin typeface="Arial"/>
              </a:defRPr>
            </a:pPr>
            <a:r>
              <a:t>Accessible Protection Need</a:t>
            </a:r>
          </a:p>
          <a:p>
            <a:br/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There is a pressing demand for an accessible, transparent, and multi-channel security platform that protects individuals, students, and small enterprises with real-time heuristic inspection.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2004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E1A"/>
                </a:solidFill>
                <a:latin typeface="Arial"/>
              </a:defRPr>
            </a:pPr>
            <a:r>
              <a:t>2.  Problem Statement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East Africa University • Department of Computer Science • Final-Year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latin typeface="Arial"/>
              </a:defRPr>
            </a:pPr>
            <a:r>
              <a:t>CyberShield: Web-Based Phishing Detection System | Candidate: Maryam Abdulkader Hassan Filla (EAUGRW0004981)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93192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CRITICAL THREAT SCALE</a:t>
            </a:r>
          </a:p>
          <a:p>
            <a:pPr>
              <a:defRPr sz="4400" b="1">
                <a:solidFill>
                  <a:srgbClr val="0A0E1A"/>
                </a:solidFill>
                <a:latin typeface="Arial"/>
              </a:defRPr>
            </a:pPr>
            <a:r>
              <a:t>971,181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Confirmed phishing attacks recorded by APWG in a single quarter — up 13.8%.</a:t>
            </a:r>
          </a:p>
          <a:p>
            <a:br/>
            <a:pPr>
              <a:defRPr sz="1250" b="1">
                <a:solidFill>
                  <a:srgbClr val="3B82F6"/>
                </a:solidFill>
                <a:latin typeface="Arial"/>
              </a:defRPr>
            </a:pPr>
            <a:r>
              <a:t>Core Reality:</a:t>
            </a:r>
            <a:br/>
            <a:r>
              <a:t>Phishing detection technology exists, but accessible, automated, and explainable phishing protection does 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737360"/>
            <a:ext cx="6522415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700" b="1">
                <a:solidFill>
                  <a:srgbClr val="0A0E1A"/>
                </a:solidFill>
                <a:latin typeface="Arial"/>
              </a:defRPr>
            </a:pPr>
            <a:r>
              <a:t>The Existing Dilemma for Users:</a:t>
            </a:r>
          </a:p>
          <a:p>
            <a:br/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• Blacklist-Only Checkers (Reactive Gap):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  Fast and free, but blind to a phishing site in the hours or days before it is publicly reported — precisely the window where most victims are caught.</a:t>
            </a:r>
          </a:p>
          <a:p>
            <a:br/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• Enterprise Software (Accessibility Gap):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  Genuinely proactive, but priced and configured solely for enterprise IT departments — out of reach for individuals, students, and small businesses.</a:t>
            </a:r>
          </a:p>
          <a:p>
            <a:br/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• The Resulting Problem: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  Ordinary users have no transparent, explainable, zero-cost alternative offering multi-channel protection (URL, Email, and QR).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2004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E1A"/>
                </a:solidFill>
                <a:latin typeface="Arial"/>
              </a:defRPr>
            </a:pPr>
            <a:r>
              <a:t>3.  Objectives of the Study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East Africa University • Department of Computer Science • Final-Year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latin typeface="Arial"/>
              </a:defRPr>
            </a:pPr>
            <a:r>
              <a:t>CyberShield: Web-Based Phishing Detection System | Candidate: Maryam Abdulkader Hassan Filla (EAUGRW0004981)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3B82F6"/>
                </a:solidFill>
                <a:latin typeface="Arial"/>
              </a:defRPr>
            </a:pPr>
            <a:r>
              <a:t>GENERAL OBJECTIVE</a:t>
            </a:r>
          </a:p>
          <a:p>
            <a:pPr>
              <a:defRPr sz="1300" b="1">
                <a:solidFill>
                  <a:srgbClr val="0A0E1A"/>
                </a:solidFill>
                <a:latin typeface="Arial"/>
              </a:defRPr>
            </a:pPr>
            <a:r>
              <a:t>Design and implement a web-based phishing detection system enabling real-time URL verification, email analysis, QR code inspection, and browser automation.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3B82F6"/>
                </a:solidFill>
                <a:latin typeface="Arial"/>
              </a:defRPr>
            </a:pPr>
            <a:r>
              <a:t>1. Review Existing Techniques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Analyze blacklist, heuristic, and ML-based approaches to identify real-time latency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880360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3B82F6"/>
                </a:solidFill>
                <a:latin typeface="Arial"/>
              </a:defRPr>
            </a:pPr>
            <a:r>
              <a:t>2. Build URL Analysis Engine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Construct internal blacklist + rule-based heuristic scoring engine (11 rules).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880360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3B82F6"/>
                </a:solidFill>
                <a:latin typeface="Arial"/>
              </a:defRPr>
            </a:pPr>
            <a:r>
              <a:t>3. Secure User Authentication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Implement registration, JWT sessions, Bcrypt hashing, and role-based access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3B82F6"/>
                </a:solidFill>
                <a:latin typeface="Arial"/>
              </a:defRPr>
            </a:pPr>
            <a:r>
              <a:t>4. Accuracy Evaluation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Examine detection behavior, accuracy boundaries, and test suite reliability.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572000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3B82F6"/>
                </a:solidFill>
                <a:latin typeface="Arial"/>
              </a:defRPr>
            </a:pPr>
            <a:r>
              <a:t>5. Platform Security Measures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Incorporate defense-in-depth: Input validation, rate limiting, and SSRF guards.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4572000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3B82F6"/>
                </a:solidFill>
                <a:latin typeface="Arial"/>
              </a:defRPr>
            </a:pPr>
            <a:r>
              <a:t>6. Browser Extension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Deploy a Manifest V3 Chromium extension for passive, zero-click browsing protection.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2004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E1A"/>
                </a:solidFill>
                <a:latin typeface="Arial"/>
              </a:defRPr>
            </a:pPr>
            <a:r>
              <a:t>4.  Literature Review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East Africa University • Department of Computer Science • Final-Year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latin typeface="Arial"/>
              </a:defRPr>
            </a:pPr>
            <a:r>
              <a:t>CyberShield: Web-Based Phishing Detection System | Candidate: Maryam Abdulkader Hassan Filla (EAUGRW0004981)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916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  <a:gridCol w="2834640"/>
                <a:gridCol w="3047695"/>
              </a:tblGrid>
              <a:tr h="10972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Strengths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Critical Weaknesses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CyberShield Synthesis</a:t>
                      </a:r>
                    </a:p>
                  </a:txBody>
                  <a:tcPr>
                    <a:solidFill>
                      <a:srgbClr val="0A0E1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Blacklist-Based</a:t>
                      </a:r>
                      <a:br/>
                      <a:r>
                        <a:t>(e.g. Safe Browsing)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• Very low false positives</a:t>
                      </a:r>
                      <a:br/>
                      <a:r>
                        <a:t>• Instant hash lookup</a:t>
                      </a:r>
                      <a:br/>
                      <a:r>
                        <a:t>• Low server compute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• Zero-hour window blindness</a:t>
                      </a:r>
                      <a:br/>
                      <a:r>
                        <a:t>• Ineffective against newly registered domains</a:t>
                      </a:r>
                      <a:br/>
                      <a:r>
                        <a:t>• Delayed crowdsourced reporting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Incorporated as Phase 2 internal blacklist for known malicious domains.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Machine Learning</a:t>
                      </a:r>
                      <a:br/>
                      <a:r>
                        <a:t>Classifiers (ML/AI)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• Generalizes across features</a:t>
                      </a:r>
                      <a:br/>
                      <a:r>
                        <a:t>• Detects novel patterns</a:t>
                      </a:r>
                      <a:br/>
                      <a:r>
                        <a:t>• Adaptive with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• Black-box decisions (no explainability)</a:t>
                      </a:r>
                      <a:br/>
                      <a:r>
                        <a:t>• Heavy inference compute overhead</a:t>
                      </a:r>
                      <a:br/>
                      <a:r>
                        <a:t>• Prone to concept drift &amp; evasion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Identified for future hybrid NLP layer; bypassed for initial sub-second extension response.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Rule-Based Heuristic</a:t>
                      </a:r>
                      <a:br/>
                      <a:r>
                        <a:t>Analysis (CyberShield)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• Sub-second response (&lt;270ms)</a:t>
                      </a:r>
                      <a:br/>
                      <a:r>
                        <a:t>• Full explainability (Named rules)</a:t>
                      </a:r>
                      <a:br/>
                      <a:r>
                        <a:t>• Transparent penalties</a:t>
                      </a:r>
                      <a:br/>
                      <a:r>
                        <a:t>• Zero third-party API lag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• Requires careful weight calibration</a:t>
                      </a:r>
                      <a:br/>
                      <a:r>
                        <a:t>• Dependent on heuristic rule coverage</a:t>
                      </a:r>
                      <a:br/>
                      <a:r>
                        <a:t>• Potential false alarms on rare TLDs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Primary detection engine: 29 rules across URL, Email MIME, and QR payload classification.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2004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E1A"/>
                </a:solidFill>
                <a:latin typeface="Arial"/>
              </a:defRPr>
            </a:pPr>
            <a:r>
              <a:t>5.  Research Methodology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East Africa University • Department of Computer Science • Final-Year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latin typeface="Arial"/>
              </a:defRPr>
            </a:pPr>
            <a:r>
              <a:t>CyberShield: Web-Based Phishing Detection System | Candidate: Maryam Abdulkader Hassan Filla (EAUGRW0004981)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6032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A0E1A"/>
                </a:solidFill>
                <a:latin typeface="Arial"/>
              </a:defRPr>
            </a:pPr>
            <a:r>
              <a:t>Research Design:</a:t>
            </a:r>
            <a:br/>
            <a:r>
              <a:t>Design Science Research</a:t>
            </a:r>
          </a:p>
          <a:p>
            <a:br/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Hevner et al. (2004)</a:t>
            </a:r>
            <a:br/>
            <a:br/>
            <a:r>
              <a:t>Focuses on building and evaluating an innovative software artefact to solve an explicit problem, rather than population opinion surveys.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37360"/>
            <a:ext cx="256032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A0E1A"/>
                </a:solidFill>
                <a:latin typeface="Arial"/>
              </a:defRPr>
            </a:pPr>
            <a:r>
              <a:t>Development Method:</a:t>
            </a:r>
            <a:br/>
            <a:r>
              <a:t>Agile &amp; Incremental</a:t>
            </a:r>
          </a:p>
          <a:p>
            <a:br/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Beck et al. (2001)</a:t>
            </a:r>
            <a:br/>
            <a:br/>
            <a:r>
              <a:t>Architected across 8 modular development increments (Phases 1–8). Each engine, database schema, and interface was built and verified iteratively.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737360"/>
            <a:ext cx="256032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A0E1A"/>
                </a:solidFill>
                <a:latin typeface="Arial"/>
              </a:defRPr>
            </a:pPr>
            <a:r>
              <a:t>Requirements &amp;</a:t>
            </a:r>
            <a:br/>
            <a:r>
              <a:t>Gap Analysis</a:t>
            </a:r>
          </a:p>
          <a:p>
            <a:br/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Specification Instrument</a:t>
            </a:r>
            <a:br/>
            <a:br/>
            <a:r>
              <a:t>Requirements synthesized from literature review gap analysis and Anti-Phishing Working Group (APWG) threat landscape telemetry.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737360"/>
            <a:ext cx="256032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A0E1A"/>
                </a:solidFill>
                <a:latin typeface="Arial"/>
              </a:defRPr>
            </a:pPr>
            <a:r>
              <a:t>Evaluation &amp;</a:t>
            </a:r>
            <a:br/>
            <a:r>
              <a:t>Verification Strategy</a:t>
            </a:r>
          </a:p>
          <a:p>
            <a:br/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Automated Test Harness</a:t>
            </a:r>
            <a:br/>
            <a:br/>
            <a:r>
              <a:t>Evaluated using a 562-test automated suite (Pytest + Vitest) alongside live accumulated platform usage telemetry across multiple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2004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E1A"/>
                </a:solidFill>
                <a:latin typeface="Arial"/>
              </a:defRPr>
            </a:pPr>
            <a:r>
              <a:t>6.  System Design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East Africa University • Department of Computer Science • Final-Year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latin typeface="Arial"/>
              </a:defRPr>
            </a:pPr>
            <a:r>
              <a:t>CyberShield: Web-Based Phishing Detection System | Candidate: Maryam Abdulkader Hassan Filla (EAUGRW0004981)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defRPr sz="1400" b="1">
                <a:solidFill>
                  <a:srgbClr val="0A0E1A"/>
                </a:solidFill>
                <a:latin typeface="Arial"/>
              </a:defRPr>
            </a:pPr>
            <a:r>
              <a:t>1. Client Layer (Presentation)</a:t>
            </a:r>
          </a:p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React 18 Single Page Application (Vite + TypeScript) + Chromium Manifest V3 Browser Extension.</a:t>
            </a:r>
            <a:br/>
            <a:r>
              <a:t>Provides real-time scan interfaces, full-page blocking overlays, and unified Scan Center dashboards.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defRPr sz="1400" b="1">
                <a:solidFill>
                  <a:srgbClr val="0A0E1A"/>
                </a:solidFill>
                <a:latin typeface="Arial"/>
              </a:defRPr>
            </a:pPr>
            <a:r>
              <a:t>2. Application Layer (Logic &amp; Auth)</a:t>
            </a:r>
          </a:p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Python Flask REST API (/api/v1). Manages routing, rate limiting (Flask-Limiter), JWT access/refresh lifecycles,</a:t>
            </a:r>
            <a:br/>
            <a:r>
              <a:t>and Role-Based Access Control (RBAC) permission matrices.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10728655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defRPr sz="1400" b="1">
                <a:solidFill>
                  <a:srgbClr val="0A0E1A"/>
                </a:solidFill>
                <a:latin typeface="Arial"/>
              </a:defRPr>
            </a:pPr>
            <a:r>
              <a:t>3. Detection Engine Layer (Core Logic)</a:t>
            </a:r>
          </a:p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Modular heuristic inspection engines: URL Scanner (11 rules), Email Analyzer (10 rules for SPF/DKIM/MIME),</a:t>
            </a:r>
            <a:br/>
            <a:r>
              <a:t>and QR Decoder (8 payload handlers). Shared core prevents code duplication.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728655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defRPr sz="1400" b="1">
                <a:solidFill>
                  <a:srgbClr val="0A0E1A"/>
                </a:solidFill>
                <a:latin typeface="Arial"/>
              </a:defRPr>
            </a:pPr>
            <a:r>
              <a:t>4. Data Layer (Persistence)</a:t>
            </a:r>
          </a:p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PostgreSQL 16 relational database (14 production tables) ensuring ACID compliance and scan indexing,</a:t>
            </a:r>
            <a:br/>
            <a:r>
              <a:t>with SQLite in-memory database used for deterministic automated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2004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E1A"/>
                </a:solidFill>
                <a:latin typeface="Arial"/>
              </a:defRPr>
            </a:pPr>
            <a:r>
              <a:t>7.  System Implementation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East Africa University • Department of Computer Science • Final-Year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latin typeface="Arial"/>
              </a:defRPr>
            </a:pPr>
            <a:r>
              <a:t>CyberShield: Web-Based Phishing Detection System | Candidate: Maryam Abdulkader Hassan Filla (EAUGRW0004981)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960120"/>
          </a:xfrm>
          <a:prstGeom prst="round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Core Scoring Formula:  Trust Score = 100 + Σ (rule impacts)  [Clamped: 0 – 100]</a:t>
            </a:r>
          </a:p>
          <a:p>
            <a:pPr algn="ctr">
              <a:defRPr sz="1150" b="1">
                <a:solidFill>
                  <a:srgbClr val="3B82F6"/>
                </a:solidFill>
                <a:latin typeface="Arial"/>
              </a:defRPr>
            </a:pPr>
            <a:r>
              <a:t>Risk Categories: Safe (90–100)  |  Low Risk (70–89)  |  Suspicious (40–69)  |  Dangerous (0–39)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3429000" cy="3383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B82F6"/>
                </a:solidFill>
                <a:latin typeface="Arial"/>
              </a:defRPr>
            </a:pPr>
            <a:r>
              <a:t>Three Detection Channels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URL Scanner (11 Rules):</a:t>
            </a:r>
            <a:br/>
            <a:r>
              <a:t>  IP hosts, typosquatting, TLS check,</a:t>
            </a:r>
            <a:br/>
            <a:r>
              <a:t>  domain age, suspicious TLDs.</a:t>
            </a:r>
            <a:br/>
            <a:r>
              <a:t>• Email Scanner (10 Rules):</a:t>
            </a:r>
            <a:br/>
            <a:r>
              <a:t>  SPF/DKIM headers, sender spoofing,</a:t>
            </a:r>
            <a:br/>
            <a:r>
              <a:t>  urgency keywords, attachments.</a:t>
            </a:r>
            <a:br/>
            <a:r>
              <a:t>• QR Scanner (8 Handlers):</a:t>
            </a:r>
            <a:br/>
            <a:r>
              <a:t>  Matrix decoding piped into URL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788920"/>
            <a:ext cx="3429000" cy="3383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B82F6"/>
                </a:solidFill>
                <a:latin typeface="Arial"/>
              </a:defRPr>
            </a:pPr>
            <a:r>
              <a:t>Browser Extension (MV3)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Zero-Effort Automation:</a:t>
            </a:r>
            <a:br/>
            <a:r>
              <a:t>  Intercepts page visits automatically.</a:t>
            </a:r>
            <a:br/>
            <a:r>
              <a:t>• Sub-Second Speed:</a:t>
            </a:r>
            <a:br/>
            <a:r>
              <a:t>  267ms average latency stops user before</a:t>
            </a:r>
            <a:br/>
            <a:r>
              <a:t>  credentials can be typed.</a:t>
            </a:r>
            <a:br/>
            <a:r>
              <a:t>• Full-Page Overlay:</a:t>
            </a:r>
            <a:br/>
            <a:r>
              <a:t>  Blocks dangerous sites physically.</a:t>
            </a:r>
            <a:br/>
            <a:r>
              <a:t>• Privacy Mode: In-memory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788920"/>
            <a:ext cx="3429000" cy="3383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B82F6"/>
                </a:solidFill>
                <a:latin typeface="Arial"/>
              </a:defRPr>
            </a:pPr>
            <a:r>
              <a:t>Enterprise Administration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Role-Based Access Control (RBAC):</a:t>
            </a:r>
            <a:br/>
            <a:r>
              <a:t>  Strict Admin vs User permissions.</a:t>
            </a:r>
            <a:br/>
            <a:r>
              <a:t>• Dynamic Rule Toggling:</a:t>
            </a:r>
            <a:br/>
            <a:r>
              <a:t>  Enable/disable rules without redeploying.</a:t>
            </a:r>
            <a:br/>
            <a:r>
              <a:t>• Immutable Audit Logging:</a:t>
            </a:r>
            <a:br/>
            <a:r>
              <a:t>  Non-repudiation logging with IPs.</a:t>
            </a:r>
            <a:br/>
            <a:r>
              <a:t>• Security by Design:</a:t>
            </a:r>
            <a:br/>
            <a:r>
              <a:t>  Bcrypt, Rate Limiting, CSRF &amp; SSRF.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2004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E1A"/>
                </a:solidFill>
                <a:latin typeface="Arial"/>
              </a:defRPr>
            </a:pPr>
            <a:r>
              <a:t>8.  Testing &amp; Results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East Africa University • Department of Computer Science • Final-Year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latin typeface="Arial"/>
              </a:defRPr>
            </a:pPr>
            <a:r>
              <a:t>CyberShield: Web-Based Phishing Detection System | Candidate: Maryam Abdulkader Hassan Filla (EAUGRW0004981)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0A0E1A"/>
                </a:solidFill>
                <a:latin typeface="Arial"/>
              </a:defRPr>
            </a:pPr>
            <a:r>
              <a:t>Automated Test Suite Verification</a:t>
            </a:r>
          </a:p>
          <a:p>
            <a:pPr>
              <a:defRPr sz="2000" b="1">
                <a:solidFill>
                  <a:srgbClr val="22C55E"/>
                </a:solidFill>
                <a:latin typeface="Arial"/>
              </a:defRPr>
            </a:pPr>
            <a:r>
              <a:t>562 of 562 Tests Passed (100%)</a:t>
            </a:r>
          </a:p>
          <a:p>
            <a:br/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Backend Pytest Suite: 473 tests</a:t>
            </a:r>
            <a:br/>
            <a:r>
              <a:t>  Exercises API routes, authentication, rate limiting, and rules.</a:t>
            </a:r>
            <a:br/>
            <a:r>
              <a:t>• Browser Vitest Suite: 89 tests</a:t>
            </a:r>
            <a:br/>
            <a:r>
              <a:t>  Verifies extension lifecycle, message passing, and caching.</a:t>
            </a:r>
            <a:br/>
            <a:br/>
            <a:r>
              <a:t>Worked Example:</a:t>
            </a:r>
            <a:br/>
            <a:r>
              <a:t>URL: http://45.33.32.156/paypal-verify-account</a:t>
            </a:r>
            <a:br/>
            <a:r>
              <a:t>Result: 31 / 100 (DANGEROUS)</a:t>
            </a:r>
            <a:br/>
            <a:r>
              <a:t>Rules: Raw IP host (-25), Brand impersonation (-30), Plain HTTP (-15).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50815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0A0E1A"/>
                </a:solidFill>
                <a:latin typeface="Arial"/>
              </a:defRPr>
            </a:pPr>
            <a:r>
              <a:t>Live Platform Usage Telemetry</a:t>
            </a:r>
          </a:p>
          <a:p>
            <a:pPr>
              <a:defRPr sz="2000" b="1">
                <a:solidFill>
                  <a:srgbClr val="3B82F6"/>
                </a:solidFill>
                <a:latin typeface="Arial"/>
              </a:defRPr>
            </a:pPr>
            <a:r>
              <a:t>472 Real Accumulated Scans</a:t>
            </a:r>
          </a:p>
          <a:p>
            <a:br/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Automatic Detection: 448 / 472 (95%)</a:t>
            </a:r>
            <a:br/>
            <a:r>
              <a:t>  Scans originated passively via browser extension.</a:t>
            </a:r>
            <a:br/>
            <a:r>
              <a:t>• Performance Latency: 267.79 ms</a:t>
            </a:r>
            <a:br/>
            <a:r>
              <a:t>  Sub-second API response time preserves browsing speed.</a:t>
            </a:r>
            <a:br/>
            <a:r>
              <a:t>• Mean Trust Score: 90.8 across live evaluation.</a:t>
            </a:r>
            <a:br/>
            <a:r>
              <a:t>• Classification: 261 Safe, 194 Low Risk, 11 Suspicious, 6 Dangerous.</a:t>
            </a:r>
            <a:br/>
            <a:r>
              <a:t>• Platform Deployment: 31 registered users, 2 admins, 16 blocked attacks.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scu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2004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E1A"/>
                </a:solidFill>
                <a:latin typeface="Arial"/>
              </a:defRPr>
            </a:pPr>
            <a:r>
              <a:t>9.  Discussion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East Africa University • Department of Computer Science • Final-Year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latin typeface="Arial"/>
              </a:defRPr>
            </a:pPr>
            <a:r>
              <a:t>CyberShield: Web-Based Phishing Detection System | Candidate: Maryam Abdulkader Hassan Filla (EAUGRW0004981)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2057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A0E1A"/>
                </a:solidFill>
                <a:latin typeface="Arial"/>
              </a:defRPr>
            </a:pPr>
            <a:r>
              <a:t>Objectives Evaluation (5 of 6 Met)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Five of the six specific research objectives were fully achieved. Objective 4 (accuracy benchmarking against a static labelled dataset) was not met because no fixed ground-truth dataset was compiled; reliability was measured via 562 automated tests instead. Reliability and accuracy represent distinct properties.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2057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A0E1A"/>
                </a:solidFill>
                <a:latin typeface="Arial"/>
              </a:defRPr>
            </a:pPr>
            <a:r>
              <a:t>Empirical Validation of Automation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The observation that 95% of scans originated via the browser extension confirms the central hypothesis: end-user cybersecurity must be automated. Users rarely copy-paste links manually into checkers during fast-paced browsing.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A0E1A"/>
                </a:solidFill>
                <a:latin typeface="Arial"/>
              </a:defRPr>
            </a:pPr>
            <a:r>
              <a:t>Explainability as a Security Core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By implementing traceable rule penalties, verdicts provide clear justifications ('Raw IP host', 'Sender mismatch') rather than opaque black-box scores, directly improving user security awareness.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A0E1A"/>
                </a:solidFill>
                <a:latin typeface="Arial"/>
              </a:defRPr>
            </a:pPr>
            <a:r>
              <a:t>Identified System Limitations</a:t>
            </a:r>
          </a:p>
          <a:p>
            <a:br/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Current heuristics inspect static patterns and headers. They do not execute obfuscated JavaScript in an isolated virtual sandbox, and password-protected archives cannot be decrypted without user keys.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2004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A0E1A"/>
                </a:solidFill>
                <a:latin typeface="Arial"/>
              </a:defRPr>
            </a:pPr>
            <a:r>
              <a:t>10.  Conclusion &amp; Recommendations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East Africa University • Department of Computer Science • Final-Year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latin typeface="Arial"/>
              </a:defRPr>
            </a:pPr>
            <a:r>
              <a:t>CyberShield: Web-Based Phishing Detection System | Candidate: Maryam Abdulkader Hassan Filla (EAUGRW0004981)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A0E1A"/>
                </a:solidFill>
                <a:latin typeface="Arial"/>
              </a:defRPr>
            </a:pPr>
            <a:r>
              <a:t>RESEARCH CONCLUSION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CyberShield demonstrates that transparent, explainable, and multi-vector phishing protection is achievable without enterprise licensing barriers. The system operates reliably, passes 100% of its 562 automated tests, and delivers accessible security across Web, Email, QR, and Browser Extension channels.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4290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3B82F6"/>
                </a:solidFill>
                <a:latin typeface="Arial"/>
              </a:defRPr>
            </a:pPr>
            <a:r>
              <a:t>1. Benchmark Accuracy Evaluation</a:t>
            </a:r>
          </a:p>
          <a:p>
            <a:br/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Conduct evaluation against balanced PhishTank and verified legitimate datasets to compute formal Precision, Recall, and False Positive 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566160"/>
            <a:ext cx="34290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3B82F6"/>
                </a:solidFill>
                <a:latin typeface="Arial"/>
              </a:defRPr>
            </a:pPr>
            <a:r>
              <a:t>2. Hybrid NLP Model Integration</a:t>
            </a:r>
          </a:p>
          <a:p>
            <a:br/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Integrate a lightweight NLP classifier to detect semantic spear-phishing cues alongside heuristic rules without sacrificing sub-second latency.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566160"/>
            <a:ext cx="34290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3B82F6"/>
                </a:solidFill>
                <a:latin typeface="Arial"/>
              </a:defRPr>
            </a:pPr>
            <a:r>
              <a:t>3. Dynamic Sandboxing &amp; Mobile Apps</a:t>
            </a:r>
          </a:p>
          <a:p>
            <a:br/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Incorporate headless browser execution for DOM inspection and publish dedicated mobile browser extensions and apps.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463040"/>
            <a:ext cx="7619695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0A0E1A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sz="1800" b="1">
                <a:solidFill>
                  <a:srgbClr val="3B82F6"/>
                </a:solidFill>
                <a:latin typeface="Arial"/>
              </a:defRPr>
            </a:pPr>
            <a:r>
              <a:t>Questions &amp; Answers (Q&amp;A)</a:t>
            </a:r>
          </a:p>
          <a:p>
            <a:br/>
            <a:pPr algn="ctr">
              <a:defRPr sz="1250">
                <a:solidFill>
                  <a:srgbClr val="64748B"/>
                </a:solidFill>
                <a:latin typeface="Arial"/>
              </a:defRPr>
            </a:pPr>
            <a:r>
              <a:t>CyberShield: Design and Implementation of a Web-Based Phishing Detection System</a:t>
            </a:r>
            <a:br/>
            <a:r>
              <a:t>Candidate: Maryam Abdulkader Hassan Filla • ID: EAUGRW0004981</a:t>
            </a:r>
            <a:br/>
            <a:r>
              <a:t>East Africa University — Faculty of Technology &amp;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